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4308" y="1262063"/>
            <a:ext cx="69552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spcAft>
                <a:spcPts val="180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CloudFront 캐싱 장애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657201" y="2176463"/>
            <a:ext cx="5829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실전 사례로 배우는 AWS 인프라 지식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619351" y="2862263"/>
            <a:ext cx="1905000" cy="28575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94308" y="3195638"/>
            <a:ext cx="695523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CC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2025.07.08 푸드 장바구니 장애 종합 분석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4308" y="3576638"/>
            <a:ext cx="6955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프론트엔드 개발자를 위한 기술 세미나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89198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장애 발생 타임라인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304479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1251198"/>
            <a:ext cx="83164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07/08 10:26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운영 CloudFront에 S3 멀티 오리진 설정 적용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81000" y="1837879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7700" y="1784598"/>
            <a:ext cx="82776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07/08 10:29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🔥 장애 발생 (CloudFront Function 동작 반영)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1000" y="2371279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17998"/>
            <a:ext cx="83164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07/08 10:34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CloudFront 동작 설정 롤백 시도 (실패)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1000" y="2904679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9600" y="2851398"/>
            <a:ext cx="83164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07/08 10:35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S3 멀티 오리진 설정 롤백 (여전히 문제 지속)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1000" y="3438079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47700" y="3384798"/>
            <a:ext cx="82776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07/08 11:46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✅ Remote Config로 웹뷰 캐시 파라미터 변경 → 장애 해소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1000" y="4222998"/>
            <a:ext cx="8382000" cy="431304"/>
          </a:xfrm>
          <a:prstGeom prst="roundRect">
            <a:avLst>
              <a:gd name="adj" fmla="val 8834"/>
            </a:avLst>
          </a:prstGeom>
          <a:solidFill>
            <a:srgbClr val="FF9800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00050" y="4222998"/>
            <a:ext cx="0" cy="431304"/>
          </a:xfrm>
          <a:prstGeom prst="line">
            <a:avLst/>
          </a:prstGeom>
          <a:noFill/>
          <a:ln w="38100">
            <a:solidFill>
              <a:srgbClr val="FF9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" y="4337298"/>
            <a:ext cx="819988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</a:t>
            </a:r>
            <a:pPr algn="l"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포인트:</a:t>
            </a:r>
            <a:pPr algn="l"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CloudFront 설정 롤백만으로는 해결 불가 → 브라우저 캐시 문제</a:t>
            </a:r>
            <a:endParaRPr lang="en-US" sz="11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4308" y="1852612"/>
            <a:ext cx="69552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spcAft>
                <a:spcPts val="120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CloudFront 기본 개념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3857476" y="2690813"/>
            <a:ext cx="1428750" cy="285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94308" y="2947988"/>
            <a:ext cx="695523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CDN의 동작 원리를 이해하자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CloudFront란?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2133600"/>
            <a:ext cx="41193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AWS의 CDN 서비스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2590800"/>
            <a:ext cx="4038600" cy="1181100"/>
          </a:xfrm>
          <a:prstGeom prst="rect">
            <a:avLst/>
          </a:prstGeom>
          <a:noFill/>
          <a:ln/>
        </p:spPr>
        <p:txBody>
          <a:bodyPr wrap="square" lIns="80010" tIns="0" rIns="0" bIns="0" rtlCol="0" anchor="t"/>
          <a:lstStyle/>
          <a:p>
            <a:pPr algn="l" marL="80010" indent="-8001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 세계 Edge Location에 콘텐츠 캐싱</a:t>
            </a:r>
            <a:endParaRPr lang="en-US" sz="1350" dirty="0"/>
          </a:p>
          <a:p>
            <a:pPr algn="l" marL="80010" indent="-8001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 서버(S3, EC2 등)의 부하 감소</a:t>
            </a:r>
            <a:endParaRPr lang="en-US" sz="1350" dirty="0"/>
          </a:p>
          <a:p>
            <a:pPr algn="l" marL="80010" indent="-8001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사용자에게 빠른 응답 제공</a:t>
            </a:r>
            <a:endParaRPr lang="en-US" sz="1350" dirty="0"/>
          </a:p>
          <a:p>
            <a:pPr algn="l" marL="80010" indent="-8001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DDoS 방어, HTTPS 지원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724400" y="2000250"/>
            <a:ext cx="4038600" cy="1905000"/>
          </a:xfrm>
          <a:prstGeom prst="roundRect">
            <a:avLst>
              <a:gd name="adj" fmla="val 2000"/>
            </a:avLst>
          </a:prstGeom>
          <a:solidFill>
            <a:srgbClr val="E337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743450" y="2000250"/>
            <a:ext cx="0" cy="1905000"/>
          </a:xfrm>
          <a:prstGeom prst="line">
            <a:avLst/>
          </a:prstGeom>
          <a:noFill/>
          <a:ln w="38100">
            <a:solidFill>
              <a:srgbClr val="E337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2114550"/>
            <a:ext cx="37696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구성 요소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14900" y="2495550"/>
            <a:ext cx="37696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Distribution: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CloudFront 배포 단위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14900" y="2838450"/>
            <a:ext cx="37696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Origin: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실제 콘텐츠가 저장된 서버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14900" y="3181350"/>
            <a:ext cx="37696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Behavior: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경로별 동작 정의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14900" y="3524250"/>
            <a:ext cx="37696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Policy: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캐싱 규칙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CloudFront Function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885206"/>
            <a:ext cx="41193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경량 JavaScript 함수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1000" y="2266206"/>
            <a:ext cx="4038600" cy="1181100"/>
          </a:xfrm>
          <a:prstGeom prst="rect">
            <a:avLst/>
          </a:prstGeom>
          <a:noFill/>
          <a:ln/>
        </p:spPr>
        <p:txBody>
          <a:bodyPr wrap="square" lIns="72390" tIns="0" rIns="0" bIns="0" rtlCol="0" anchor="t"/>
          <a:lstStyle/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Viewer Request/Response에서 실행</a:t>
            </a:r>
            <a:endParaRPr lang="en-US" sz="1350" dirty="0"/>
          </a:p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 수정, 헤더 조작, 리다이렉트</a:t>
            </a:r>
            <a:endParaRPr lang="en-US" sz="1350" dirty="0"/>
          </a:p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매우 빠른 실행 속도 (&lt; 1ms)</a:t>
            </a:r>
            <a:endParaRPr lang="en-US" sz="1350" dirty="0"/>
          </a:p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낮은 비용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81000" y="3599706"/>
            <a:ext cx="4038600" cy="420588"/>
          </a:xfrm>
          <a:prstGeom prst="roundRect">
            <a:avLst>
              <a:gd name="adj" fmla="val 9059"/>
            </a:avLst>
          </a:prstGeom>
          <a:solidFill>
            <a:srgbClr val="FF9800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3599706"/>
            <a:ext cx="0" cy="420588"/>
          </a:xfrm>
          <a:prstGeom prst="line">
            <a:avLst/>
          </a:prstGeom>
          <a:noFill/>
          <a:ln w="38100">
            <a:solidFill>
              <a:srgbClr val="FF9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1500" y="3714006"/>
            <a:ext cx="3769614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</a:t>
            </a:r>
            <a:pPr algn="l"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한계:</a:t>
            </a:r>
            <a:pPr algn="l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캐시 키 직접 조작 불가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4724400" y="1733550"/>
            <a:ext cx="41193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예시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24400" y="2076450"/>
            <a:ext cx="4038600" cy="2095500"/>
          </a:xfrm>
          <a:prstGeom prst="roundRect">
            <a:avLst>
              <a:gd name="adj" fmla="val 3636"/>
            </a:avLst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38700" y="2190750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8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handler(event) {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38700" y="2457450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8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 request = event.request;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38700" y="2724150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8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(request.uri.startsWith('/inquiry')) {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38700" y="2990850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8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request.uri = '/index.html';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38700" y="3257550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8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38700" y="3524250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8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request;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38700" y="3790950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8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 Rewrite의 함정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466850"/>
            <a:ext cx="8382000" cy="795486"/>
          </a:xfrm>
          <a:prstGeom prst="roundRect">
            <a:avLst>
              <a:gd name="adj" fmla="val 4790"/>
            </a:avLst>
          </a:prstGeom>
          <a:solidFill>
            <a:srgbClr val="E337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466850"/>
            <a:ext cx="0" cy="795486"/>
          </a:xfrm>
          <a:prstGeom prst="line">
            <a:avLst/>
          </a:prstGeom>
          <a:noFill/>
          <a:ln w="38100">
            <a:solidFill>
              <a:srgbClr val="E337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1500" y="1581150"/>
            <a:ext cx="81998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포인트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1500" y="1924050"/>
            <a:ext cx="8199882" cy="223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4"/>
              </a:lnSpc>
              <a:buNone/>
            </a:pPr>
            <a:r>
              <a:rPr lang="en-US" sz="126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CloudFront Function이 URI를 변경하면, </a:t>
            </a:r>
            <a:pPr algn="l" indent="0" marL="0">
              <a:lnSpc>
                <a:spcPts val="1764"/>
              </a:lnSpc>
              <a:buNone/>
            </a:pPr>
            <a:r>
              <a:rPr lang="en-US" sz="126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변경된 URI가 캐시 키</a:t>
            </a:r>
            <a:pPr algn="l" indent="0" marL="0">
              <a:lnSpc>
                <a:spcPts val="1764"/>
              </a:lnSpc>
              <a:buNone/>
            </a:pPr>
            <a:r>
              <a:rPr lang="en-US" sz="126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 된다!</a:t>
            </a:r>
            <a:endParaRPr lang="en-US" sz="1260" dirty="0"/>
          </a:p>
        </p:txBody>
      </p:sp>
      <p:sp>
        <p:nvSpPr>
          <p:cNvPr id="7" name="Text 5"/>
          <p:cNvSpPr/>
          <p:nvPr/>
        </p:nvSpPr>
        <p:spPr>
          <a:xfrm>
            <a:off x="381000" y="2567136"/>
            <a:ext cx="4038600" cy="1135261"/>
          </a:xfrm>
          <a:prstGeom prst="roundRect">
            <a:avLst>
              <a:gd name="adj" fmla="val 6712"/>
            </a:avLst>
          </a:prstGeom>
          <a:solidFill>
            <a:srgbClr val="4CAF50">
              <a:alpha val="10000"/>
            </a:srgbClr>
          </a:solidFill>
          <a:ln w="19050">
            <a:solidFill>
              <a:srgbClr val="4CAF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2450" y="2738586"/>
            <a:ext cx="37696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예상 (❌)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52450" y="3081486"/>
            <a:ext cx="3769614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원본 URI로 캐싱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552450" y="3349675"/>
            <a:ext cx="376961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8"/>
              </a:lnSpc>
              <a:spcBef>
                <a:spcPts val="600"/>
              </a:spcBef>
              <a:buNone/>
            </a:pPr>
            <a:r>
              <a:rPr lang="en-US" sz="1020" dirty="0">
                <a:solidFill>
                  <a:srgbClr val="292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캐시 키: /inquiry/ORDER123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4724400" y="2567136"/>
            <a:ext cx="4038600" cy="1135261"/>
          </a:xfrm>
          <a:prstGeom prst="roundRect">
            <a:avLst>
              <a:gd name="adj" fmla="val 6712"/>
            </a:avLst>
          </a:prstGeom>
          <a:solidFill>
            <a:srgbClr val="E33737">
              <a:alpha val="10000"/>
            </a:srgbClr>
          </a:solidFill>
          <a:ln w="19050">
            <a:solidFill>
              <a:srgbClr val="E3373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95850" y="2738586"/>
            <a:ext cx="37696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(✅)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95850" y="3081486"/>
            <a:ext cx="3769614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변경된 URI로 캐싱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4895850" y="3349675"/>
            <a:ext cx="376961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8"/>
              </a:lnSpc>
              <a:spcBef>
                <a:spcPts val="600"/>
              </a:spcBef>
              <a:buNone/>
            </a:pPr>
            <a:r>
              <a:rPr lang="en-US" sz="1020" dirty="0">
                <a:solidFill>
                  <a:srgbClr val="292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캐시 키: /index.html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381000" y="4007197"/>
            <a:ext cx="8382000" cy="431304"/>
          </a:xfrm>
          <a:prstGeom prst="roundRect">
            <a:avLst>
              <a:gd name="adj" fmla="val 8834"/>
            </a:avLst>
          </a:prstGeom>
          <a:solidFill>
            <a:srgbClr val="FF9800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00050" y="4007197"/>
            <a:ext cx="0" cy="431304"/>
          </a:xfrm>
          <a:prstGeom prst="line">
            <a:avLst/>
          </a:prstGeom>
          <a:noFill/>
          <a:ln w="38100">
            <a:solidFill>
              <a:srgbClr val="FF98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" y="4121497"/>
            <a:ext cx="819988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AWS 공식: "CloudFront Functions으로 캐시 키를 수정할 수 있습니다"</a:t>
            </a:r>
            <a:endParaRPr lang="en-US" sz="11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6297" y="1852612"/>
            <a:ext cx="43914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spcAft>
                <a:spcPts val="120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브라우저 캐싱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3857625" y="2690813"/>
            <a:ext cx="1428750" cy="285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376297" y="2947988"/>
            <a:ext cx="439140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Heuristic Caching의 함정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캐시 헤더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2019300"/>
            <a:ext cx="41193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Cache-Control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1000" y="2400300"/>
            <a:ext cx="4038600" cy="1485900"/>
          </a:xfrm>
          <a:prstGeom prst="rect">
            <a:avLst/>
          </a:prstGeom>
          <a:noFill/>
          <a:ln/>
        </p:spPr>
        <p:txBody>
          <a:bodyPr wrap="square" lIns="72390" tIns="0" rIns="0" bIns="0" rtlCol="0" anchor="t"/>
          <a:lstStyle/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max-age: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캐시 유지 시간(초)</a:t>
            </a:r>
            <a:endParaRPr lang="en-US" sz="1350" dirty="0"/>
          </a:p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no-cache: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재검증 필요</a:t>
            </a:r>
            <a:endParaRPr lang="en-US" sz="1350" dirty="0"/>
          </a:p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no-store: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캐싱 금지</a:t>
            </a:r>
            <a:endParaRPr lang="en-US" sz="1350" dirty="0"/>
          </a:p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must-revalidate: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만료 시 재검증</a:t>
            </a:r>
            <a:endParaRPr lang="en-US" sz="1350" dirty="0"/>
          </a:p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s-maxage: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CDN 캐시 시간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724400" y="1795314"/>
            <a:ext cx="4038600" cy="2314873"/>
          </a:xfrm>
          <a:prstGeom prst="roundRect">
            <a:avLst>
              <a:gd name="adj" fmla="val 1646"/>
            </a:avLst>
          </a:prstGeom>
          <a:solidFill>
            <a:srgbClr val="4CAF50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743450" y="1795314"/>
            <a:ext cx="0" cy="2314873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1909614"/>
            <a:ext cx="37696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정상 설정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14900" y="2252514"/>
            <a:ext cx="3695700" cy="1485900"/>
          </a:xfrm>
          <a:prstGeom prst="roundRect">
            <a:avLst>
              <a:gd name="adj" fmla="val 5128"/>
            </a:avLst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91100" y="2328714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8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Cache-Control: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91100" y="2595414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8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max-age=0,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91100" y="2862114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8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s-maxage=604800,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91100" y="3128814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8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no-cache,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91100" y="3395514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8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must-revalidate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14900" y="3814614"/>
            <a:ext cx="376961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8"/>
              </a:lnSpc>
              <a:spcBef>
                <a:spcPts val="600"/>
              </a:spcBef>
              <a:buNone/>
            </a:pPr>
            <a:r>
              <a:rPr lang="en-US" sz="102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항상 서버 재검증</a:t>
            </a:r>
            <a:endParaRPr lang="en-US" sz="10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75813" y="1852612"/>
            <a:ext cx="29923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spcAft>
                <a:spcPts val="120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 방법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3857625" y="2690813"/>
            <a:ext cx="1428750" cy="285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075813" y="2947988"/>
            <a:ext cx="299237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올바른 아키텍처 선택하기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46731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200"/>
              </a:spcAft>
              <a:buNone/>
            </a:pPr>
            <a:r>
              <a:rPr lang="en-US" sz="225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 방법 2: Lambda@Edge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0" y="1637556"/>
            <a:ext cx="9144000" cy="763488"/>
          </a:xfrm>
          <a:prstGeom prst="roundRect">
            <a:avLst>
              <a:gd name="adj" fmla="val 4990"/>
            </a:avLst>
          </a:prstGeom>
          <a:solidFill>
            <a:srgbClr val="E337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19050" y="1637556"/>
            <a:ext cx="0" cy="763488"/>
          </a:xfrm>
          <a:prstGeom prst="line">
            <a:avLst/>
          </a:prstGeom>
          <a:noFill/>
          <a:ln w="38100">
            <a:solidFill>
              <a:srgbClr val="E337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0500" y="1751856"/>
            <a:ext cx="89771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 Request 단계에서 동적 Origin 선택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90500" y="2094756"/>
            <a:ext cx="8977122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캐시 키 생성 전 Origin 선택으로 충돌 방지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0" y="2705844"/>
            <a:ext cx="4419600" cy="1447800"/>
          </a:xfrm>
          <a:prstGeom prst="roundRect">
            <a:avLst>
              <a:gd name="adj" fmla="val 2632"/>
            </a:avLst>
          </a:prstGeom>
          <a:solidFill>
            <a:srgbClr val="4CAF50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9050" y="2705844"/>
            <a:ext cx="0" cy="1447800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500" y="2820144"/>
            <a:ext cx="41582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장점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90500" y="3163044"/>
            <a:ext cx="4076700" cy="8763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캐시 키 직접 조작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복잡한 라우팅 가능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변경 없음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24400" y="2705844"/>
            <a:ext cx="4419600" cy="1447800"/>
          </a:xfrm>
          <a:prstGeom prst="roundRect">
            <a:avLst>
              <a:gd name="adj" fmla="val 2632"/>
            </a:avLst>
          </a:prstGeom>
          <a:solidFill>
            <a:srgbClr val="FF9800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743450" y="2705844"/>
            <a:ext cx="0" cy="1447800"/>
          </a:xfrm>
          <a:prstGeom prst="line">
            <a:avLst/>
          </a:prstGeom>
          <a:noFill/>
          <a:ln w="38100">
            <a:solidFill>
              <a:srgbClr val="FF9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4900" y="2820144"/>
            <a:ext cx="41582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단점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14900" y="3163044"/>
            <a:ext cx="4076700" cy="8763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증가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시간 ~5-25ms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복잡한 설정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200"/>
              </a:spcAft>
              <a:buNone/>
            </a:pPr>
            <a:r>
              <a:rPr lang="en-US" sz="225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 방법 3: 도메인 분리 (권장)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1269504"/>
            <a:ext cx="8382000" cy="463153"/>
          </a:xfrm>
          <a:prstGeom prst="roundRect">
            <a:avLst>
              <a:gd name="adj" fmla="val 8226"/>
            </a:avLst>
          </a:prstGeom>
          <a:solidFill>
            <a:srgbClr val="4CAF50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269504"/>
            <a:ext cx="0" cy="463153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1500" y="1383804"/>
            <a:ext cx="8199882" cy="234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8"/>
              </a:lnSpc>
              <a:buNone/>
            </a:pPr>
            <a:r>
              <a:rPr lang="en-US" sz="132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가장 안전하고 명확한 방법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381000" y="2037457"/>
            <a:ext cx="4038600" cy="617190"/>
          </a:xfrm>
          <a:prstGeom prst="roundRect">
            <a:avLst>
              <a:gd name="adj" fmla="val 12346"/>
            </a:avLst>
          </a:prstGeom>
          <a:solidFill>
            <a:srgbClr val="4CAF50">
              <a:alpha val="10000"/>
            </a:srgbClr>
          </a:solidFill>
          <a:ln w="19050">
            <a:solidFill>
              <a:srgbClr val="CCCBC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37769" y="2132707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food-order.baemin.com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37769" y="2399407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 서비스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24400" y="2037457"/>
            <a:ext cx="4038600" cy="617190"/>
          </a:xfrm>
          <a:prstGeom prst="roundRect">
            <a:avLst>
              <a:gd name="adj" fmla="val 12346"/>
            </a:avLst>
          </a:prstGeom>
          <a:solidFill>
            <a:srgbClr val="FF9800">
              <a:alpha val="10000"/>
            </a:srgbClr>
          </a:solidFill>
          <a:ln w="19050">
            <a:solidFill>
              <a:srgbClr val="CCCBC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81169" y="2132707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inquiry.baemin.com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81169" y="2399407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 서비스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1000" y="2959447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장점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1000" y="3340447"/>
            <a:ext cx="8382000" cy="1181100"/>
          </a:xfrm>
          <a:prstGeom prst="rect">
            <a:avLst/>
          </a:prstGeom>
          <a:noFill/>
          <a:ln/>
        </p:spPr>
        <p:txBody>
          <a:bodyPr wrap="square" lIns="72390" tIns="0" rIns="0" bIns="0" rtlCol="0" anchor="t"/>
          <a:lstStyle/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완전한 격리 - 캐시 충돌 원천 차단</a:t>
            </a:r>
            <a:endParaRPr lang="en-US" sz="1350" dirty="0"/>
          </a:p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독립적인 배포 및 관리</a:t>
            </a:r>
            <a:endParaRPr lang="en-US" sz="1350" dirty="0"/>
          </a:p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명확한 책임 범위</a:t>
            </a:r>
            <a:endParaRPr lang="en-US" sz="1350" dirty="0"/>
          </a:p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확장성 우수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75664" y="1852612"/>
            <a:ext cx="29923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spcAft>
                <a:spcPts val="120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예방 대책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3857476" y="2690813"/>
            <a:ext cx="1428750" cy="285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075663" y="2947988"/>
            <a:ext cx="299252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재발 방지를 위한 체크리스트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39140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교훈 (Key Takeaways)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168747"/>
            <a:ext cx="8382000" cy="474018"/>
          </a:xfrm>
          <a:prstGeom prst="roundRect">
            <a:avLst>
              <a:gd name="adj" fmla="val 8038"/>
            </a:avLst>
          </a:prstGeom>
          <a:solidFill>
            <a:srgbClr val="E337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168747"/>
            <a:ext cx="0" cy="474018"/>
          </a:xfrm>
          <a:prstGeom prst="line">
            <a:avLst/>
          </a:prstGeom>
          <a:noFill/>
          <a:ln w="38100">
            <a:solidFill>
              <a:srgbClr val="E337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1500" y="1283047"/>
            <a:ext cx="8199882" cy="245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38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CloudFront Function의 URI rewrite는 캐시 키를 변경한다</a:t>
            </a:r>
            <a:endParaRPr lang="en-US" sz="1380" dirty="0"/>
          </a:p>
        </p:txBody>
      </p:sp>
      <p:sp>
        <p:nvSpPr>
          <p:cNvPr id="6" name="Text 4"/>
          <p:cNvSpPr/>
          <p:nvPr/>
        </p:nvSpPr>
        <p:spPr>
          <a:xfrm>
            <a:off x="381000" y="1947565"/>
            <a:ext cx="8382000" cy="474018"/>
          </a:xfrm>
          <a:prstGeom prst="roundRect">
            <a:avLst>
              <a:gd name="adj" fmla="val 8038"/>
            </a:avLst>
          </a:prstGeom>
          <a:solidFill>
            <a:srgbClr val="E337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00050" y="1947565"/>
            <a:ext cx="0" cy="474018"/>
          </a:xfrm>
          <a:prstGeom prst="line">
            <a:avLst/>
          </a:prstGeom>
          <a:noFill/>
          <a:ln w="38100">
            <a:solidFill>
              <a:srgbClr val="E337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1500" y="2061865"/>
            <a:ext cx="8199882" cy="245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38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Cache-Control 헤더 누락 시 Heuristic Caching 발동</a:t>
            </a:r>
            <a:endParaRPr lang="en-US" sz="1380" dirty="0"/>
          </a:p>
        </p:txBody>
      </p:sp>
      <p:sp>
        <p:nvSpPr>
          <p:cNvPr id="9" name="Text 7"/>
          <p:cNvSpPr/>
          <p:nvPr/>
        </p:nvSpPr>
        <p:spPr>
          <a:xfrm>
            <a:off x="381000" y="2726382"/>
            <a:ext cx="8382000" cy="474018"/>
          </a:xfrm>
          <a:prstGeom prst="roundRect">
            <a:avLst>
              <a:gd name="adj" fmla="val 8038"/>
            </a:avLst>
          </a:prstGeom>
          <a:solidFill>
            <a:srgbClr val="E337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2726382"/>
            <a:ext cx="0" cy="474018"/>
          </a:xfrm>
          <a:prstGeom prst="line">
            <a:avLst/>
          </a:prstGeom>
          <a:noFill/>
          <a:ln w="38100">
            <a:solidFill>
              <a:srgbClr val="E337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1500" y="2840682"/>
            <a:ext cx="8199882" cy="245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38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멀티 오리진보다 도메인 분리가 안전</a:t>
            </a:r>
            <a:endParaRPr lang="en-US" sz="1380" dirty="0"/>
          </a:p>
        </p:txBody>
      </p:sp>
      <p:sp>
        <p:nvSpPr>
          <p:cNvPr id="12" name="Text 10"/>
          <p:cNvSpPr/>
          <p:nvPr/>
        </p:nvSpPr>
        <p:spPr>
          <a:xfrm>
            <a:off x="381000" y="3505200"/>
            <a:ext cx="8382000" cy="474018"/>
          </a:xfrm>
          <a:prstGeom prst="roundRect">
            <a:avLst>
              <a:gd name="adj" fmla="val 8038"/>
            </a:avLst>
          </a:prstGeom>
          <a:solidFill>
            <a:srgbClr val="E337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00050" y="3505200"/>
            <a:ext cx="0" cy="474018"/>
          </a:xfrm>
          <a:prstGeom prst="line">
            <a:avLst/>
          </a:prstGeom>
          <a:noFill/>
          <a:ln w="38100">
            <a:solidFill>
              <a:srgbClr val="E337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1500" y="3619500"/>
            <a:ext cx="8199882" cy="245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38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개발/스테이지 환경은 운영과 완전히 동일해야</a:t>
            </a:r>
            <a:endParaRPr lang="en-US" sz="1380" dirty="0"/>
          </a:p>
        </p:txBody>
      </p:sp>
      <p:sp>
        <p:nvSpPr>
          <p:cNvPr id="15" name="Text 13"/>
          <p:cNvSpPr/>
          <p:nvPr/>
        </p:nvSpPr>
        <p:spPr>
          <a:xfrm>
            <a:off x="381000" y="4284018"/>
            <a:ext cx="8382000" cy="452586"/>
          </a:xfrm>
          <a:prstGeom prst="roundRect">
            <a:avLst>
              <a:gd name="adj" fmla="val 8418"/>
            </a:avLst>
          </a:prstGeom>
          <a:solidFill>
            <a:srgbClr val="FF9800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00050" y="4284018"/>
            <a:ext cx="0" cy="452586"/>
          </a:xfrm>
          <a:prstGeom prst="line">
            <a:avLst/>
          </a:prstGeom>
          <a:noFill/>
          <a:ln w="38100">
            <a:solidFill>
              <a:srgbClr val="FF98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" y="4398318"/>
            <a:ext cx="8199882" cy="223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4"/>
              </a:lnSpc>
              <a:buNone/>
            </a:pPr>
            <a:r>
              <a:rPr lang="en-US" sz="126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</a:t>
            </a:r>
            <a:pPr algn="l" indent="0" marL="0">
              <a:lnSpc>
                <a:spcPts val="1764"/>
              </a:lnSpc>
              <a:buNone/>
            </a:pPr>
            <a:r>
              <a:rPr lang="en-US" sz="126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캐시 설정은 절대 기본값에 의존하지 말 것!</a:t>
            </a:r>
            <a:endParaRPr lang="en-US" sz="12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3353" y="1733550"/>
            <a:ext cx="191729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spcAft>
                <a:spcPts val="3600"/>
              </a:spcAft>
              <a:buNone/>
            </a:pPr>
            <a:r>
              <a:rPr lang="en-US" sz="54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3542007" y="3067050"/>
            <a:ext cx="205983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질문이 있으신가요?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23061" y="1490663"/>
            <a:ext cx="34975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spcAft>
                <a:spcPts val="240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3619351" y="2481263"/>
            <a:ext cx="1905000" cy="28575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017736" y="2814638"/>
            <a:ext cx="51083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CC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프론트엔드 개발자를 위한 AWS 인프라 실전 지식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017736" y="3348038"/>
            <a:ext cx="51083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18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2025.07.08 푸드 장바구니 장애 종합 분석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우아한형제들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CloudFront 캐싱 장애 - 실전 사례로 배우는 AWS 인프라 지식</dc:title>
  <dc:subject>CloudFront 캐싱 장애 분석</dc:subject>
  <dc:creator>CloudFront 장애 분석팀</dc:creator>
  <cp:lastModifiedBy>CloudFront 장애 분석팀</cp:lastModifiedBy>
  <cp:revision>1</cp:revision>
  <dcterms:created xsi:type="dcterms:W3CDTF">2025-10-23T05:05:38Z</dcterms:created>
  <dcterms:modified xsi:type="dcterms:W3CDTF">2025-10-23T05:05:38Z</dcterms:modified>
</cp:coreProperties>
</file>